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302" r:id="rId6"/>
    <p:sldId id="294" r:id="rId7"/>
    <p:sldId id="295" r:id="rId8"/>
    <p:sldId id="298" r:id="rId9"/>
    <p:sldId id="299" r:id="rId10"/>
    <p:sldId id="300" r:id="rId11"/>
    <p:sldId id="301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D4"/>
    <a:srgbClr val="CDEEF1"/>
    <a:srgbClr val="82D0D5"/>
    <a:srgbClr val="CD5D3B"/>
    <a:srgbClr val="D25E3C"/>
    <a:srgbClr val="56B7BC"/>
    <a:srgbClr val="1A1A2E"/>
    <a:srgbClr val="446992"/>
    <a:srgbClr val="AEC2D8"/>
    <a:srgbClr val="984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72" autoAdjust="0"/>
    <p:restoredTop sz="95634"/>
  </p:normalViewPr>
  <p:slideViewPr>
    <p:cSldViewPr snapToGrid="0" showGuides="1">
      <p:cViewPr varScale="1">
        <p:scale>
          <a:sx n="113" d="100"/>
          <a:sy n="113" d="100"/>
        </p:scale>
        <p:origin x="390" y="10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4A770C70-39F6-425A-82A8-2D194693C200}" type="datetime1">
              <a:rPr lang="ru-RU" smtClean="0"/>
              <a:t>04.06.2026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B8DC1D1-B6C2-C644-8BF1-C34DBFFE1C7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87834D1B-A726-18FB-799A-8294A1FE8A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063B9152-B336-5993-1C67-48946279B0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96129B60-5FEB-47CD-8151-F9E412B19905}" type="datetime1">
              <a:rPr lang="ru-RU" noProof="0" smtClean="0"/>
              <a:t>04.06.2026</a:t>
            </a:fld>
            <a:endParaRPr lang="ru-RU" noProof="0" dirty="0"/>
          </a:p>
        </p:txBody>
      </p:sp>
      <p:sp>
        <p:nvSpPr>
          <p:cNvPr id="10" name="Заметки 9">
            <a:extLst>
              <a:ext uri="{FF2B5EF4-FFF2-40B4-BE49-F238E27FC236}">
                <a16:creationId xmlns:a16="http://schemas.microsoft.com/office/drawing/2014/main" id="{598999B6-0E65-F457-D4BF-F96BE9F9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76FEA9E-549C-DA0D-8B3C-832BF107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2DEDBB3-C345-4EAB-AB5D-9FB3AF589CFF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2" name="Образ слайда 11">
            <a:extLst>
              <a:ext uri="{FF2B5EF4-FFF2-40B4-BE49-F238E27FC236}">
                <a16:creationId xmlns:a16="http://schemas.microsoft.com/office/drawing/2014/main" id="{F627E2FE-9CC2-836E-40FC-1A1183B95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13" name="Нижний колонтитул 12">
            <a:extLst>
              <a:ext uri="{FF2B5EF4-FFF2-40B4-BE49-F238E27FC236}">
                <a16:creationId xmlns:a16="http://schemas.microsoft.com/office/drawing/2014/main" id="{413B0C97-27B2-A894-9DEA-82E460C91F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43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2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68876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3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54028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4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2298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5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64904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6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135323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7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99274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8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7729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cxnSp>
        <p:nvCxnSpPr>
          <p:cNvPr id="24" name="Прямая соединительная линия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 b="0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47" name="Контент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изображение≈≈</a:t>
            </a:r>
          </a:p>
        </p:txBody>
      </p:sp>
      <p:sp>
        <p:nvSpPr>
          <p:cNvPr id="9" name="Полилиния: Фигура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Полилиния: фигура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26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6" name="Полилиния: Фигура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9" name="Полилиния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4" name="Контент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1" name="Текст 47" descr="Щелкните значок, чтобы добавить фото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1" cap="all" baseline="0">
                <a:solidFill>
                  <a:schemeClr val="tx2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Контент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Таблица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ru-RU" sz="2700">
                <a:latin typeface="+mn-lt"/>
              </a:defRPr>
            </a:lvl1pPr>
          </a:lstStyle>
          <a:p>
            <a:pPr rtl="0"/>
            <a:r>
              <a:rPr lang="ru-RU" noProof="0"/>
              <a:t>Щелкните, чтобы изменить стиль текста</a:t>
            </a:r>
          </a:p>
        </p:txBody>
      </p:sp>
      <p:sp>
        <p:nvSpPr>
          <p:cNvPr id="11" name="Подзаголовок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2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 </a:t>
            </a:r>
          </a:p>
        </p:txBody>
      </p:sp>
      <p:sp>
        <p:nvSpPr>
          <p:cNvPr id="4" name="Полилиния: Фигура 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5" name="Полилиния: Фигура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600" noProof="0" dirty="0"/>
          </a:p>
        </p:txBody>
      </p:sp>
      <p:sp>
        <p:nvSpPr>
          <p:cNvPr id="6" name="Полилиния: Фигура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8" name="Полилиния: Фигура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участника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52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3" name="Контент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Контент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1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участников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ru-RU"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6" name="Контент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8" name="Контент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 dirty="0"/>
          </a:p>
        </p:txBody>
      </p:sp>
      <p:sp>
        <p:nvSpPr>
          <p:cNvPr id="4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6" name="Контент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9" name="Контент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0" name="Контент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2" name="Контент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5" name="Контент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8" name="Контент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ru-RU" b="0"/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столбцов со зна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Полилиния: Фигура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олилиния: Фигура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олилиния: Фигура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4" name="Контент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6" name="Контент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1" name="Контент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5" name="Контент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0" name="Контент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1" name="Контент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27" name="Контент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25" name="Контент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8" name="Контент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9" name="Контент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олилиния: Форма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Полилиния: Фигура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Полилиния: Фигура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9" name="Полилиния: Фигура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Полилиния: Фигура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1" name="Полилиния: Фигура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Полилиния: Фигура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3" name="Полилиния: Фигура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4" name="Полилиния: Фигура 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5" name="Полилиния: Фигура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6" name="Полилиния: Фигура 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Полилиния: Фигура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8" name="Полилиния: Фигура 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9" name="Полилиния: фигура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0" name="Полилиния: фигура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Полилиния: Фигура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Полилиния: фигура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3" name="Полилиния: Фигура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Полилиния: Фигура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6" name="Контент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8" name="Контент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0" name="Контент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2" name="Контент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4" name="Контент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7" name="Полилиния: Фигура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8" name="Полилиния: Фигура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1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23" name="Контент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 </a:t>
            </a:r>
          </a:p>
        </p:txBody>
      </p:sp>
      <p:sp>
        <p:nvSpPr>
          <p:cNvPr id="37" name="Рисунок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8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2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Объект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4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Объект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7" name="Полилиния: Фигура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18" name="Объект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bg1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19" name="Полилиния: Форма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0" name="Полилиния: Фигура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Шестиугольник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Шестиугольник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1" name="Шестиугольник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Шестиугольник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4" name="Полилиния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4" name="Шестиугольник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5" name="Шестиугольник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8" name="Шестиугольник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9" name="Объект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0" name="Объект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1" name="Объект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0">
                <a:solidFill>
                  <a:schemeClr val="bg1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0" name="Полилиния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нт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Фигура 31">
            <a:extLst>
              <a:ext uri="{FF2B5EF4-FFF2-40B4-BE49-F238E27FC236}">
                <a16:creationId xmlns:a16="http://schemas.microsoft.com/office/drawing/2014/main" id="{CE2DADD3-9297-4B60-BAB6-D94C4B215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9743775" y="1583568"/>
            <a:ext cx="1670648" cy="191125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rgbClr val="82D0D5"/>
                </a:gs>
                <a:gs pos="97000">
                  <a:srgbClr val="CDEEF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15" name="Блок-схема: узел 14">
            <a:extLst>
              <a:ext uri="{FF2B5EF4-FFF2-40B4-BE49-F238E27FC236}">
                <a16:creationId xmlns:a16="http://schemas.microsoft.com/office/drawing/2014/main" id="{919D760E-7724-480F-8B80-7F00B2E191B8}"/>
              </a:ext>
            </a:extLst>
          </p:cNvPr>
          <p:cNvSpPr/>
          <p:nvPr/>
        </p:nvSpPr>
        <p:spPr>
          <a:xfrm rot="3954105">
            <a:off x="7775668" y="1890442"/>
            <a:ext cx="3650420" cy="3515150"/>
          </a:xfrm>
          <a:prstGeom prst="flowChartConnector">
            <a:avLst/>
          </a:prstGeom>
          <a:gradFill>
            <a:gsLst>
              <a:gs pos="0">
                <a:srgbClr val="56B7BC">
                  <a:lumMod val="96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97000">
                <a:srgbClr val="CDEEF1">
                  <a:alpha val="1000"/>
                </a:srgbClr>
              </a:gs>
            </a:gsLst>
            <a:lin ang="2700000" scaled="1"/>
          </a:gradFill>
          <a:ln>
            <a:noFill/>
          </a:ln>
          <a:effectLst>
            <a:glow rad="1435100">
              <a:srgbClr val="82D0D5">
                <a:alpha val="11000"/>
              </a:srgbClr>
            </a:glow>
            <a:outerShdw blurRad="50800" dist="50800" dir="5400000" algn="ctr" rotWithShape="0">
              <a:srgbClr val="000000">
                <a:alpha val="1000"/>
              </a:srgbClr>
            </a:outerShdw>
            <a:reflection stA="52000" endA="300" endPos="35000" dir="5400000" sy="-100000" algn="bl" rotWithShape="0"/>
            <a:softEdge rad="165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Заголовок 6">
            <a:extLst>
              <a:ext uri="{FF2B5EF4-FFF2-40B4-BE49-F238E27FC236}">
                <a16:creationId xmlns:a16="http://schemas.microsoft.com/office/drawing/2014/main" id="{CFF11DEF-4B84-4EB0-A074-80A397A44561}"/>
              </a:ext>
            </a:extLst>
          </p:cNvPr>
          <p:cNvSpPr txBox="1">
            <a:spLocks/>
          </p:cNvSpPr>
          <p:nvPr/>
        </p:nvSpPr>
        <p:spPr>
          <a:xfrm>
            <a:off x="682785" y="1540363"/>
            <a:ext cx="7310248" cy="2455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ru-RU" sz="2400" dirty="0">
                <a:latin typeface="Century Gothic (Заголовки)"/>
                <a:cs typeface="Times New Roman" panose="02020603050405020304" pitchFamily="18" charset="0"/>
              </a:rPr>
            </a:b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мобильного приложения для автоматизации деятельности персонального фитнес-тренера с функцией удаленного мониторинга прогресса клиента</a:t>
            </a:r>
            <a:br>
              <a:rPr lang="ru-RU" sz="2400" dirty="0">
                <a:latin typeface="Century Gothic (Заголовки)"/>
                <a:cs typeface="Times New Roman" panose="02020603050405020304" pitchFamily="18" charset="0"/>
              </a:rPr>
            </a:br>
            <a:endParaRPr lang="ru-RU" sz="2400" dirty="0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BDC81488-9732-436B-9418-E73C59FAA8D5}"/>
              </a:ext>
            </a:extLst>
          </p:cNvPr>
          <p:cNvSpPr txBox="1">
            <a:spLocks/>
          </p:cNvSpPr>
          <p:nvPr/>
        </p:nvSpPr>
        <p:spPr>
          <a:xfrm>
            <a:off x="1574190" y="3896988"/>
            <a:ext cx="4079188" cy="121808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Выполнил студент гр. ИСиП-22-1</a:t>
            </a:r>
          </a:p>
          <a:p>
            <a:r>
              <a:rPr lang="ru-RU" sz="2000" b="1" dirty="0"/>
              <a:t>Ермаков Н. С.</a:t>
            </a:r>
          </a:p>
          <a:p>
            <a:r>
              <a:rPr lang="ru-RU" sz="2000" b="1" dirty="0"/>
              <a:t>Руководитель: Гладышева А. В. </a:t>
            </a:r>
          </a:p>
        </p:txBody>
      </p:sp>
      <p:pic>
        <p:nvPicPr>
          <p:cNvPr id="18" name="Фигура 31">
            <a:extLst>
              <a:ext uri="{FF2B5EF4-FFF2-40B4-BE49-F238E27FC236}">
                <a16:creationId xmlns:a16="http://schemas.microsoft.com/office/drawing/2014/main" id="{55E1507D-29BB-43A1-873E-A9FB32DC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>
            <a:gradFill>
              <a:gsLst>
                <a:gs pos="0">
                  <a:srgbClr val="82D0D5"/>
                </a:gs>
                <a:gs pos="94000">
                  <a:schemeClr val="accent1">
                    <a:lumMod val="45000"/>
                    <a:lumOff val="55000"/>
                  </a:schemeClr>
                </a:gs>
                <a:gs pos="98000">
                  <a:srgbClr val="CDEEF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11EDD68C-B618-4C04-9B54-959242521B4D}"/>
              </a:ext>
            </a:extLst>
          </p:cNvPr>
          <p:cNvSpPr>
            <a:spLocks noGrp="1"/>
          </p:cNvSpPr>
          <p:nvPr/>
        </p:nvSpPr>
        <p:spPr>
          <a:xfrm>
            <a:off x="527929" y="5408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«Забайкальский горный колледж им. М.И. Агошкова»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0207A04-7211-472A-BB85-811141FED6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87334" y="1789236"/>
            <a:ext cx="3627089" cy="3529162"/>
          </a:xfrm>
          <a:prstGeom prst="rect">
            <a:avLst/>
          </a:prstGeom>
        </p:spPr>
      </p:pic>
      <p:pic>
        <p:nvPicPr>
          <p:cNvPr id="21" name="Фигура 31">
            <a:extLst>
              <a:ext uri="{FF2B5EF4-FFF2-40B4-BE49-F238E27FC236}">
                <a16:creationId xmlns:a16="http://schemas.microsoft.com/office/drawing/2014/main" id="{8A53208B-3EA5-416D-B0F5-5105CFC7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8391023" y="5202537"/>
            <a:ext cx="927148" cy="106067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gradFill>
              <a:gsLst>
                <a:gs pos="99000">
                  <a:srgbClr val="CDEEF1"/>
                </a:gs>
                <a:gs pos="0">
                  <a:srgbClr val="82D0D5"/>
                </a:gs>
                <a:gs pos="95000">
                  <a:schemeClr val="accent1">
                    <a:lumMod val="45000"/>
                    <a:lumOff val="55000"/>
                  </a:schemeClr>
                </a:gs>
                <a:gs pos="96000">
                  <a:srgbClr val="ABC0E4"/>
                </a:gs>
                <a:gs pos="95000">
                  <a:srgbClr val="ABC0E4"/>
                </a:gs>
                <a:gs pos="97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reflection stA="45000" endPos="65000" dist="635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14:reveal/>
      </p:transition>
    </mc:Choice>
    <mc:Fallback xmlns=""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9BCC866-2CF6-4040-844B-C7502A63B0D9}"/>
              </a:ext>
            </a:extLst>
          </p:cNvPr>
          <p:cNvSpPr/>
          <p:nvPr/>
        </p:nvSpPr>
        <p:spPr>
          <a:xfrm>
            <a:off x="47134" y="3887836"/>
            <a:ext cx="5801343" cy="2838616"/>
          </a:xfrm>
          <a:prstGeom prst="roundRect">
            <a:avLst/>
          </a:prstGeom>
          <a:gradFill>
            <a:gsLst>
              <a:gs pos="0">
                <a:srgbClr val="56B7BC">
                  <a:lumMod val="96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CDEEF1">
                  <a:alpha val="1000"/>
                  <a:lumMod val="93000"/>
                </a:srgb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EE587980-D2D3-4FC5-8CBF-85DEF3A459AB}"/>
              </a:ext>
            </a:extLst>
          </p:cNvPr>
          <p:cNvSpPr/>
          <p:nvPr/>
        </p:nvSpPr>
        <p:spPr>
          <a:xfrm>
            <a:off x="0" y="1009816"/>
            <a:ext cx="12097730" cy="2838616"/>
          </a:xfrm>
          <a:prstGeom prst="roundRect">
            <a:avLst/>
          </a:prstGeom>
          <a:gradFill>
            <a:gsLst>
              <a:gs pos="0">
                <a:srgbClr val="56B7BC">
                  <a:lumMod val="96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CDEEF1">
                  <a:alpha val="1000"/>
                  <a:lumMod val="93000"/>
                </a:srgb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541" y="131548"/>
            <a:ext cx="1899381" cy="2359597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53" y="60385"/>
            <a:ext cx="11993107" cy="144031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«Актуальность. Цель и задачи»</a:t>
            </a:r>
          </a:p>
        </p:txBody>
      </p:sp>
      <p:sp>
        <p:nvSpPr>
          <p:cNvPr id="19" name="Заголовок 6">
            <a:extLst>
              <a:ext uri="{FF2B5EF4-FFF2-40B4-BE49-F238E27FC236}">
                <a16:creationId xmlns:a16="http://schemas.microsoft.com/office/drawing/2014/main" id="{2A85A24D-C017-4B44-87B0-9369DBBBD5A6}"/>
              </a:ext>
            </a:extLst>
          </p:cNvPr>
          <p:cNvSpPr txBox="1">
            <a:spLocks/>
          </p:cNvSpPr>
          <p:nvPr/>
        </p:nvSpPr>
        <p:spPr>
          <a:xfrm>
            <a:off x="20589" y="1288160"/>
            <a:ext cx="6850593" cy="266774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77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Проблемы:</a:t>
            </a:r>
            <a:br>
              <a:rPr lang="ru-RU" sz="2400" dirty="0"/>
            </a:br>
            <a:r>
              <a:rPr lang="ru-RU" sz="2000" b="0" dirty="0"/>
              <a:t>Данные о клиентах храниться разрозненно</a:t>
            </a:r>
            <a:br>
              <a:rPr lang="ru-RU" sz="2000" b="0" dirty="0"/>
            </a:br>
            <a:r>
              <a:rPr lang="ru-RU" sz="2000" b="0" dirty="0"/>
              <a:t>Планы передаются через мессенджеры</a:t>
            </a:r>
            <a:br>
              <a:rPr lang="ru-RU" sz="2000" b="0" dirty="0"/>
            </a:br>
            <a:r>
              <a:rPr lang="ru-RU" sz="2000" b="0" dirty="0"/>
              <a:t>Нет удалённого мониторинга прогресса</a:t>
            </a:r>
            <a:br>
              <a:rPr lang="ru-RU" sz="2000" b="0" dirty="0"/>
            </a:br>
            <a:r>
              <a:rPr lang="ru-RU" sz="2000" b="0" dirty="0"/>
              <a:t>Рутинные операции – до 40 мин/клиент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21" name="Заголовок 6">
            <a:extLst>
              <a:ext uri="{FF2B5EF4-FFF2-40B4-BE49-F238E27FC236}">
                <a16:creationId xmlns:a16="http://schemas.microsoft.com/office/drawing/2014/main" id="{0F809EC4-BB30-404A-B384-5719B39E8049}"/>
              </a:ext>
            </a:extLst>
          </p:cNvPr>
          <p:cNvSpPr txBox="1">
            <a:spLocks/>
          </p:cNvSpPr>
          <p:nvPr/>
        </p:nvSpPr>
        <p:spPr>
          <a:xfrm>
            <a:off x="6698231" y="901756"/>
            <a:ext cx="5572451" cy="2838615"/>
          </a:xfrm>
          <a:prstGeom prst="rect">
            <a:avLst/>
          </a:prstGeom>
          <a:noFill/>
          <a:ln>
            <a:noFill/>
          </a:ln>
          <a:effectLst>
            <a:outerShdw blurRad="88900" dist="50800" dir="5400000" sx="99000" sy="99000" algn="ctr" rotWithShape="0">
              <a:srgbClr val="000000">
                <a:alpha val="94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/>
              <a:t>Цель :</a:t>
            </a:r>
            <a:br>
              <a:rPr lang="ru-RU" sz="2400" dirty="0">
                <a:latin typeface="Century Gothic (Заголовки)"/>
                <a:cs typeface="Times New Roman" panose="02020603050405020304" pitchFamily="18" charset="0"/>
              </a:rPr>
            </a:b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мобильное приложение для автоматизации деятельности персонального фитнес-тренера с функцией удаленного мониторинга прогресса клиента.</a:t>
            </a:r>
            <a:br>
              <a:rPr lang="ru-RU" sz="2400" dirty="0">
                <a:latin typeface="Century Gothic (Заголовки)"/>
                <a:cs typeface="Times New Roman" panose="02020603050405020304" pitchFamily="18" charset="0"/>
              </a:rPr>
            </a:br>
            <a:endParaRPr lang="ru-RU" sz="2400" dirty="0"/>
          </a:p>
        </p:txBody>
      </p:sp>
      <p:sp>
        <p:nvSpPr>
          <p:cNvPr id="22" name="Заголовок 6">
            <a:extLst>
              <a:ext uri="{FF2B5EF4-FFF2-40B4-BE49-F238E27FC236}">
                <a16:creationId xmlns:a16="http://schemas.microsoft.com/office/drawing/2014/main" id="{55CF99A5-598E-4ABC-816C-7511DD2EA99B}"/>
              </a:ext>
            </a:extLst>
          </p:cNvPr>
          <p:cNvSpPr txBox="1">
            <a:spLocks/>
          </p:cNvSpPr>
          <p:nvPr/>
        </p:nvSpPr>
        <p:spPr>
          <a:xfrm>
            <a:off x="162053" y="4327203"/>
            <a:ext cx="2181215" cy="515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ru-RU" sz="2400" dirty="0"/>
              <a:t>Задачи:</a:t>
            </a:r>
            <a:br>
              <a:rPr lang="ru-RU" sz="2400" dirty="0"/>
            </a:br>
            <a:br>
              <a:rPr lang="ru-RU" sz="2400" dirty="0"/>
            </a:br>
            <a:endParaRPr lang="ru-RU" sz="2400" dirty="0"/>
          </a:p>
        </p:txBody>
      </p:sp>
      <p:sp>
        <p:nvSpPr>
          <p:cNvPr id="23" name="Заголовок 6">
            <a:extLst>
              <a:ext uri="{FF2B5EF4-FFF2-40B4-BE49-F238E27FC236}">
                <a16:creationId xmlns:a16="http://schemas.microsoft.com/office/drawing/2014/main" id="{21DC9BFE-EFAE-4CC4-AD11-BF7C02EB9CA8}"/>
              </a:ext>
            </a:extLst>
          </p:cNvPr>
          <p:cNvSpPr txBox="1">
            <a:spLocks/>
          </p:cNvSpPr>
          <p:nvPr/>
        </p:nvSpPr>
        <p:spPr>
          <a:xfrm>
            <a:off x="162053" y="4392760"/>
            <a:ext cx="6709130" cy="26677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Изучить область и аналоги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Определить требования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Спроектировать архитектуру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Разработать приложение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Провести тестирование</a:t>
            </a:r>
            <a:br>
              <a:rPr lang="ru-RU" sz="2400" dirty="0"/>
            </a:b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16927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5" grpId="0"/>
      <p:bldP spid="19" grpId="0"/>
      <p:bldP spid="2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3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31" y="378800"/>
            <a:ext cx="11977699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Инструменты разработки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47" y="2833175"/>
            <a:ext cx="1195748" cy="749573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Графика, фиолетовый, графический дизайн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072007-84F0-0676-8CEB-79AB36358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0" y="2108089"/>
            <a:ext cx="2102112" cy="2102112"/>
          </a:xfrm>
          <a:prstGeom prst="rect">
            <a:avLst/>
          </a:prstGeom>
          <a:effectLst/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F3BD26C-0CC9-4DB8-AA1B-E8A12A522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864" y="1964614"/>
            <a:ext cx="2158404" cy="23502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BD6753-93A4-48D9-928B-3190969D2406}"/>
              </a:ext>
            </a:extLst>
          </p:cNvPr>
          <p:cNvSpPr txBox="1"/>
          <p:nvPr/>
        </p:nvSpPr>
        <p:spPr>
          <a:xfrm>
            <a:off x="474753" y="4713628"/>
            <a:ext cx="265866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Visual Studio</a:t>
            </a:r>
            <a:endParaRPr lang="en-A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8959CB-8538-4929-8A82-8732410419F5}"/>
              </a:ext>
            </a:extLst>
          </p:cNvPr>
          <p:cNvSpPr txBox="1"/>
          <p:nvPr/>
        </p:nvSpPr>
        <p:spPr>
          <a:xfrm>
            <a:off x="4766667" y="4713628"/>
            <a:ext cx="265866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Kotlin</a:t>
            </a:r>
            <a:endParaRPr lang="en-A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026" name="Picture 2" descr="Kotlin Logo PNG Transparent (1) – Brands Logos">
            <a:extLst>
              <a:ext uri="{FF2B5EF4-FFF2-40B4-BE49-F238E27FC236}">
                <a16:creationId xmlns:a16="http://schemas.microsoft.com/office/drawing/2014/main" id="{49BDF67B-6CE6-4982-BF3A-10C97254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733" y="2755557"/>
            <a:ext cx="4538540" cy="101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8AF180-DE55-487A-85B4-4FF80B91A211}"/>
              </a:ext>
            </a:extLst>
          </p:cNvPr>
          <p:cNvSpPr txBox="1"/>
          <p:nvPr/>
        </p:nvSpPr>
        <p:spPr>
          <a:xfrm>
            <a:off x="8764799" y="4575128"/>
            <a:ext cx="2658666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SQL Management Studio</a:t>
            </a:r>
            <a:endParaRPr lang="en-A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03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004855" y="6046337"/>
            <a:ext cx="3891945" cy="46919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Рисунок 1 – Диаграмма прецедентов</a:t>
            </a: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4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01" y="209655"/>
            <a:ext cx="11977699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Диаграмма прецедентов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472" y="2628788"/>
            <a:ext cx="2553056" cy="16004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3A1B26-2413-40AE-B88D-B0C1B0D1418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36" y="1282038"/>
            <a:ext cx="1685432" cy="474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6954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5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472" y="2628788"/>
            <a:ext cx="2553056" cy="1600423"/>
          </a:xfrm>
          <a:prstGeom prst="rect">
            <a:avLst/>
          </a:prstGeom>
        </p:spPr>
      </p:pic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C002A47C-673C-41C8-82B6-60C0D29412FA}"/>
              </a:ext>
            </a:extLst>
          </p:cNvPr>
          <p:cNvSpPr txBox="1">
            <a:spLocks/>
          </p:cNvSpPr>
          <p:nvPr/>
        </p:nvSpPr>
        <p:spPr>
          <a:xfrm>
            <a:off x="214301" y="17338"/>
            <a:ext cx="119776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Диаграмма классов</a:t>
            </a:r>
            <a:endParaRPr lang="ru-RU" dirty="0"/>
          </a:p>
        </p:txBody>
      </p:sp>
      <p:sp>
        <p:nvSpPr>
          <p:cNvPr id="14" name="Текст 19">
            <a:extLst>
              <a:ext uri="{FF2B5EF4-FFF2-40B4-BE49-F238E27FC236}">
                <a16:creationId xmlns:a16="http://schemas.microsoft.com/office/drawing/2014/main" id="{50E3925F-DB09-4500-A621-3F9153B24F7A}"/>
              </a:ext>
            </a:extLst>
          </p:cNvPr>
          <p:cNvSpPr txBox="1">
            <a:spLocks/>
          </p:cNvSpPr>
          <p:nvPr/>
        </p:nvSpPr>
        <p:spPr>
          <a:xfrm>
            <a:off x="4004855" y="6267070"/>
            <a:ext cx="3891945" cy="469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Рисунок 4 – Диаграмма классов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6E1F73-415A-4B85-9382-93EFE613CBD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886" y="1068329"/>
            <a:ext cx="3972810" cy="5147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4755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3891945" cy="198886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6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50" y="0"/>
            <a:ext cx="11977699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Основные макеты программы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72" y="2635333"/>
            <a:ext cx="2553056" cy="16004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5C980A-B2CB-400F-8D52-0FD95C99F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474" y="1266966"/>
            <a:ext cx="2676232" cy="49486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14BDC7A-9CD0-42CB-BE38-965D5AD77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146" y="1271484"/>
            <a:ext cx="2553056" cy="51267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82A3DB-28D4-4F21-85FD-5E73D6F9B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452" y="1271483"/>
            <a:ext cx="2553056" cy="502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399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3891945" cy="198886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7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50" y="0"/>
            <a:ext cx="11977699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Основные макеты программы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72" y="2635333"/>
            <a:ext cx="2553056" cy="160042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C73725-91D1-47DC-885B-A5F5B0D14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161" y="1058411"/>
            <a:ext cx="2897545" cy="552237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C9E9B7-AA7F-4A62-BD1A-DCA13D8F6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687" y="1058410"/>
            <a:ext cx="2666702" cy="546890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6B50E48-3222-4E5A-B55D-2BEE86DF2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06" y="1050847"/>
            <a:ext cx="2802627" cy="55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0792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3891945" cy="198886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Номер слайда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ru-RU"/>
            </a:defPPr>
            <a:lvl1pPr marL="0" algn="ctr" defTabSz="914400" rtl="0" eaLnBrk="1" latinLnBrk="0" hangingPunct="1">
              <a:defRPr lang="ru-RU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47FEACEE-25B4-4A2D-B147-27296E36371D}" type="slidenum">
              <a:rPr kumimoji="0" lang="ru-RU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8</a:t>
            </a:fld>
            <a:endParaRPr kumimoji="0" lang="ru-RU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BC22E-C76F-4599-BAF8-E486D880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19" y="229928"/>
            <a:ext cx="2553056" cy="252562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189" y="0"/>
            <a:ext cx="4953622" cy="13255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Тестирование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804000-CFD6-43A6-B1FB-FF277D1E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72" y="2635333"/>
            <a:ext cx="2553056" cy="16004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0FC3F4-ADA7-4D70-9431-DBB360ACB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4" y="1238042"/>
            <a:ext cx="5722036" cy="37840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DFB0E4-D433-41D9-934A-39D2FCFAF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247" y="1276021"/>
            <a:ext cx="5962371" cy="37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1540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Пользовательская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Arial Black"/>
        <a:ea typeface=""/>
        <a:cs typeface="Arial Black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8343_TF89027928_Win32" id="{9355BF50-038F-4933-A204-1F32E8FBBA80}" vid="{C4A0DF89-DDC0-44A7-98A7-BEC49A1591A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8C25491-3B09-4F3E-8C86-936D290E40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7AE0CD-4570-4F66-89CD-DDD19F091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D5854E-F453-4846-A87D-6EF3DCF73E3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Темная презентация с шестиугольником</Template>
  <TotalTime>1444</TotalTime>
  <Words>160</Words>
  <Application>Microsoft Office PowerPoint</Application>
  <PresentationFormat>Широкоэкранный</PresentationFormat>
  <Paragraphs>39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Abadi</vt:lpstr>
      <vt:lpstr>Arial</vt:lpstr>
      <vt:lpstr>Arial Black</vt:lpstr>
      <vt:lpstr>Calibri</vt:lpstr>
      <vt:lpstr>Century Gothic (Заголовки)</vt:lpstr>
      <vt:lpstr>Posterama</vt:lpstr>
      <vt:lpstr>Times New Roman</vt:lpstr>
      <vt:lpstr>Wingdings 3</vt:lpstr>
      <vt:lpstr>Пользовательская</vt:lpstr>
      <vt:lpstr>Презентация PowerPoint</vt:lpstr>
      <vt:lpstr>«Актуальность. Цель и задачи»</vt:lpstr>
      <vt:lpstr>Инструменты разработки</vt:lpstr>
      <vt:lpstr>Диаграмма прецедентов</vt:lpstr>
      <vt:lpstr>Презентация PowerPoint</vt:lpstr>
      <vt:lpstr>Основные макеты программы</vt:lpstr>
      <vt:lpstr>Основные макеты программы</vt:lpstr>
      <vt:lpstr>Тестирование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ПП.01.01 Разработка модулей программного обеспечения  для компьютерных систем</dc:title>
  <dc:creator>Никита Ермаков</dc:creator>
  <cp:lastModifiedBy>Никита Ермаков</cp:lastModifiedBy>
  <cp:revision>29</cp:revision>
  <dcterms:created xsi:type="dcterms:W3CDTF">2025-10-01T00:46:11Z</dcterms:created>
  <dcterms:modified xsi:type="dcterms:W3CDTF">2026-06-03T16:44:06Z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